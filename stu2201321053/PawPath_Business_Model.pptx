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60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09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26" Type="http://schemas.openxmlformats.org/officeDocument/2006/relationships/image" Target="../media/image32.png"/><Relationship Id="rId39" Type="http://schemas.openxmlformats.org/officeDocument/2006/relationships/image" Target="../media/image45.png"/><Relationship Id="rId21" Type="http://schemas.openxmlformats.org/officeDocument/2006/relationships/image" Target="../media/image27.png"/><Relationship Id="rId34" Type="http://schemas.openxmlformats.org/officeDocument/2006/relationships/image" Target="../media/image40.png"/><Relationship Id="rId42" Type="http://schemas.openxmlformats.org/officeDocument/2006/relationships/image" Target="../media/image48.png"/><Relationship Id="rId47" Type="http://schemas.openxmlformats.org/officeDocument/2006/relationships/image" Target="../media/image53.png"/><Relationship Id="rId50" Type="http://schemas.openxmlformats.org/officeDocument/2006/relationships/image" Target="../media/image56.png"/><Relationship Id="rId55" Type="http://schemas.openxmlformats.org/officeDocument/2006/relationships/image" Target="../media/image61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9" Type="http://schemas.openxmlformats.org/officeDocument/2006/relationships/image" Target="../media/image35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32" Type="http://schemas.openxmlformats.org/officeDocument/2006/relationships/image" Target="../media/image38.png"/><Relationship Id="rId37" Type="http://schemas.openxmlformats.org/officeDocument/2006/relationships/image" Target="../media/image43.png"/><Relationship Id="rId40" Type="http://schemas.openxmlformats.org/officeDocument/2006/relationships/image" Target="../media/image46.png"/><Relationship Id="rId45" Type="http://schemas.openxmlformats.org/officeDocument/2006/relationships/image" Target="../media/image51.png"/><Relationship Id="rId53" Type="http://schemas.openxmlformats.org/officeDocument/2006/relationships/image" Target="../media/image59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31" Type="http://schemas.openxmlformats.org/officeDocument/2006/relationships/image" Target="../media/image37.png"/><Relationship Id="rId44" Type="http://schemas.openxmlformats.org/officeDocument/2006/relationships/image" Target="../media/image50.png"/><Relationship Id="rId52" Type="http://schemas.openxmlformats.org/officeDocument/2006/relationships/image" Target="../media/image58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Relationship Id="rId27" Type="http://schemas.openxmlformats.org/officeDocument/2006/relationships/image" Target="../media/image33.png"/><Relationship Id="rId30" Type="http://schemas.openxmlformats.org/officeDocument/2006/relationships/image" Target="../media/image36.png"/><Relationship Id="rId35" Type="http://schemas.openxmlformats.org/officeDocument/2006/relationships/image" Target="../media/image41.png"/><Relationship Id="rId43" Type="http://schemas.openxmlformats.org/officeDocument/2006/relationships/image" Target="../media/image49.png"/><Relationship Id="rId48" Type="http://schemas.openxmlformats.org/officeDocument/2006/relationships/image" Target="../media/image54.png"/><Relationship Id="rId56" Type="http://schemas.openxmlformats.org/officeDocument/2006/relationships/image" Target="../media/image62.png"/><Relationship Id="rId8" Type="http://schemas.openxmlformats.org/officeDocument/2006/relationships/image" Target="../media/image14.png"/><Relationship Id="rId51" Type="http://schemas.openxmlformats.org/officeDocument/2006/relationships/image" Target="../media/image57.png"/><Relationship Id="rId3" Type="http://schemas.openxmlformats.org/officeDocument/2006/relationships/image" Target="../media/image9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33" Type="http://schemas.openxmlformats.org/officeDocument/2006/relationships/image" Target="../media/image39.png"/><Relationship Id="rId38" Type="http://schemas.openxmlformats.org/officeDocument/2006/relationships/image" Target="../media/image44.png"/><Relationship Id="rId46" Type="http://schemas.openxmlformats.org/officeDocument/2006/relationships/image" Target="../media/image52.png"/><Relationship Id="rId20" Type="http://schemas.openxmlformats.org/officeDocument/2006/relationships/image" Target="../media/image26.png"/><Relationship Id="rId41" Type="http://schemas.openxmlformats.org/officeDocument/2006/relationships/image" Target="../media/image47.png"/><Relationship Id="rId54" Type="http://schemas.openxmlformats.org/officeDocument/2006/relationships/image" Target="../media/image60.png"/><Relationship Id="rId1" Type="http://schemas.openxmlformats.org/officeDocument/2006/relationships/image" Target="../media/image7.png"/><Relationship Id="rId6" Type="http://schemas.openxmlformats.org/officeDocument/2006/relationships/image" Target="../media/image12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28" Type="http://schemas.openxmlformats.org/officeDocument/2006/relationships/image" Target="../media/image34.png"/><Relationship Id="rId36" Type="http://schemas.openxmlformats.org/officeDocument/2006/relationships/image" Target="../media/image42.png"/><Relationship Id="rId49" Type="http://schemas.openxmlformats.org/officeDocument/2006/relationships/image" Target="../media/image55.png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9155113" cy="686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547813" y="1701800"/>
            <a:ext cx="6908800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2927350"/>
            <a:ext cx="6913562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0B79A75-DD13-8774-9858-256C7EBF43F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841750" y="1547283"/>
            <a:ext cx="5803900" cy="3869267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90500"/>
            <a:ext cx="8458200" cy="582613"/>
          </a:xfrm>
        </p:spPr>
        <p:txBody>
          <a:bodyPr/>
          <a:lstStyle/>
          <a:p>
            <a:r>
              <a:rPr lang="en-US" sz="3200" dirty="0" err="1"/>
              <a:t>PawPath</a:t>
            </a:r>
            <a:r>
              <a:rPr lang="en-US" sz="3200" dirty="0"/>
              <a:t> - Sustainable Business Model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185227"/>
            <a:ext cx="4038600" cy="5285423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 err="1"/>
              <a:t>PawPath</a:t>
            </a:r>
            <a:r>
              <a:rPr lang="en-US" sz="1800" dirty="0"/>
              <a:t> is a digital platform that connects people in social need with volunteers and institutions through a structured and measurable process.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The platform is </a:t>
            </a:r>
            <a:r>
              <a:rPr lang="en-US" sz="1800" b="1" dirty="0"/>
              <a:t>free for individuals</a:t>
            </a:r>
            <a:r>
              <a:rPr lang="en-US" sz="1800" dirty="0"/>
              <a:t>, while revenue is generated through </a:t>
            </a:r>
            <a:r>
              <a:rPr lang="en-US" sz="1800" b="1" dirty="0"/>
              <a:t>subscription-based access for institutions</a:t>
            </a:r>
            <a:r>
              <a:rPr lang="en-US" sz="1800" dirty="0"/>
              <a:t> such as NGOs, universities, and municipalities.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Our business model is </a:t>
            </a:r>
            <a:r>
              <a:rPr lang="en-US" sz="1800" b="1" dirty="0"/>
              <a:t>B2B / B2G</a:t>
            </a:r>
            <a:r>
              <a:rPr lang="en-US" sz="1800" dirty="0"/>
              <a:t>, focused on long-term partnerships, operational efficiency, and measurable social impact.</a:t>
            </a:r>
          </a:p>
        </p:txBody>
      </p:sp>
      <p:sp>
        <p:nvSpPr>
          <p:cNvPr id="7" name="AutoShape 2" descr="Generated image">
            <a:extLst>
              <a:ext uri="{FF2B5EF4-FFF2-40B4-BE49-F238E27FC236}">
                <a16:creationId xmlns:a16="http://schemas.microsoft.com/office/drawing/2014/main" id="{CC3339EB-D798-D799-005E-77DA6DA1BA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83577DB1-7C32-3C1C-9E94-CC1C69CA82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84450" y="1441450"/>
            <a:ext cx="2292350" cy="229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Funding Strategy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6220" y="1214120"/>
            <a:ext cx="40386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1400" dirty="0" err="1"/>
              <a:t>PawPath’s</a:t>
            </a:r>
            <a:r>
              <a:rPr lang="en-US" sz="1400" dirty="0"/>
              <a:t> initial development and early growth will be funded through </a:t>
            </a:r>
            <a:r>
              <a:rPr lang="en-US" sz="1400" b="1" dirty="0"/>
              <a:t>European Union grant programs</a:t>
            </a:r>
            <a:r>
              <a:rPr lang="en-US" sz="1400" dirty="0"/>
              <a:t> supporting social innovation, digital platforms, and community development.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The project aligns strongly with EU priorities in:</a:t>
            </a:r>
          </a:p>
          <a:p>
            <a:r>
              <a:rPr lang="en-US" sz="1400" dirty="0"/>
              <a:t>digital inclusion</a:t>
            </a:r>
          </a:p>
          <a:p>
            <a:r>
              <a:rPr lang="en-US" sz="1400" dirty="0"/>
              <a:t>social cohesion</a:t>
            </a:r>
          </a:p>
          <a:p>
            <a:r>
              <a:rPr lang="en-US" sz="1400" dirty="0"/>
              <a:t>innovation for public good</a:t>
            </a:r>
          </a:p>
          <a:p>
            <a:endParaRPr lang="en-US" sz="1400" dirty="0"/>
          </a:p>
          <a:p>
            <a:pPr marL="0" indent="0">
              <a:buNone/>
            </a:pPr>
            <a:r>
              <a:rPr lang="en-US" sz="1400" dirty="0"/>
              <a:t>Key funding sources include:</a:t>
            </a:r>
          </a:p>
          <a:p>
            <a:r>
              <a:rPr lang="en-US" sz="1400" dirty="0"/>
              <a:t>Horizon Europe</a:t>
            </a:r>
          </a:p>
          <a:p>
            <a:r>
              <a:rPr lang="en-US" sz="1400" dirty="0"/>
              <a:t>European Social Fund Plus (ESF+)</a:t>
            </a:r>
          </a:p>
          <a:p>
            <a:r>
              <a:rPr lang="en-US" sz="1400" dirty="0"/>
              <a:t>Erasmus+</a:t>
            </a:r>
          </a:p>
          <a:p>
            <a:r>
              <a:rPr lang="en-US" sz="1400" dirty="0"/>
              <a:t>Digital Europe </a:t>
            </a:r>
            <a:r>
              <a:rPr lang="en-US" sz="1400" dirty="0" err="1"/>
              <a:t>Programme</a:t>
            </a:r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pPr marL="0" indent="0">
              <a:buNone/>
            </a:pPr>
            <a:r>
              <a:rPr lang="en-US" sz="1400" dirty="0"/>
              <a:t>These programs allow </a:t>
            </a:r>
            <a:r>
              <a:rPr lang="en-US" sz="1400" dirty="0" err="1"/>
              <a:t>PawPath</a:t>
            </a:r>
            <a:r>
              <a:rPr lang="en-US" sz="1400" dirty="0"/>
              <a:t> to validate the product before full market monetization.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144D3A-3478-0EF6-A864-86D7CAB60C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European Union (EU) | Definition, Flag, Purpose, History, &amp; Members |  Britannica">
            <a:extLst>
              <a:ext uri="{FF2B5EF4-FFF2-40B4-BE49-F238E27FC236}">
                <a16:creationId xmlns:a16="http://schemas.microsoft.com/office/drawing/2014/main" id="{B241DB83-F2C9-21CC-8397-6A1E474B7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1350" y="2092437"/>
            <a:ext cx="4572000" cy="3048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Revenue Streams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6220" y="1525905"/>
            <a:ext cx="40386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1600"/>
              <a:t>PawPath operates on a </a:t>
            </a:r>
            <a:r>
              <a:rPr lang="en-US" sz="1600" b="1"/>
              <a:t>subscription-based revenue model</a:t>
            </a:r>
            <a:r>
              <a:rPr lang="en-US" sz="1600"/>
              <a:t> focused on institutional users.</a:t>
            </a:r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600"/>
              <a:t>Our main revenue streams include:</a:t>
            </a:r>
          </a:p>
          <a:p>
            <a:r>
              <a:rPr lang="en-US" sz="1600"/>
              <a:t>Subscription plans for NGOs, universities, and municipalities</a:t>
            </a:r>
          </a:p>
          <a:p>
            <a:r>
              <a:rPr lang="en-US" sz="1600"/>
              <a:t>Service packages with guaranteed response times (SLA)</a:t>
            </a:r>
          </a:p>
          <a:p>
            <a:r>
              <a:rPr lang="en-US" sz="1600"/>
              <a:t>Enterprise and government-level contracts</a:t>
            </a:r>
          </a:p>
          <a:p>
            <a:r>
              <a:rPr lang="en-US" sz="1600"/>
              <a:t>Corporate CSR access (long-term)</a:t>
            </a:r>
          </a:p>
          <a:p>
            <a:endParaRPr lang="en-US" sz="1600"/>
          </a:p>
          <a:p>
            <a:pPr marL="0" indent="0">
              <a:buNone/>
            </a:pPr>
            <a:r>
              <a:rPr lang="en-US" sz="1600"/>
              <a:t>This model ensures predictable income while keeping the platform free for individuals in need.</a:t>
            </a:r>
            <a:endParaRPr lang="en-US" sz="1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5852D2-7868-9BC7-4DC5-6F10A77477B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9B805F4-AC6B-D85C-E780-7E46B5D83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9981" y="1241872"/>
            <a:ext cx="3623125" cy="2409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Plovdiv city | visitplovdiv.com">
            <a:extLst>
              <a:ext uri="{FF2B5EF4-FFF2-40B4-BE49-F238E27FC236}">
                <a16:creationId xmlns:a16="http://schemas.microsoft.com/office/drawing/2014/main" id="{327A6672-3D1A-3B14-4BF7-C9F1FA359E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4820" y="3711623"/>
            <a:ext cx="3535473" cy="2355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/>
              <a:t>Why Institutions Pay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800"/>
              <a:t>Institutions do not pay for a social cause -</a:t>
            </a:r>
            <a:br>
              <a:rPr lang="en-US" sz="1800"/>
            </a:br>
            <a:r>
              <a:rPr lang="en-US" sz="1800"/>
              <a:t>they pay for </a:t>
            </a:r>
            <a:r>
              <a:rPr lang="en-US" sz="1800" b="1"/>
              <a:t>operational efficiency and control</a:t>
            </a:r>
            <a:r>
              <a:rPr lang="en-US" sz="1800"/>
              <a:t>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/>
              <a:t>With </a:t>
            </a:r>
            <a:r>
              <a:rPr lang="en-US" sz="1800" err="1"/>
              <a:t>PawPath</a:t>
            </a:r>
            <a:r>
              <a:rPr lang="en-US" sz="1800"/>
              <a:t>, institutions receive:</a:t>
            </a:r>
          </a:p>
          <a:p>
            <a:pPr>
              <a:lnSpc>
                <a:spcPct val="90000"/>
              </a:lnSpc>
            </a:pPr>
            <a:r>
              <a:rPr lang="en-US" sz="1800"/>
              <a:t>automated case intake and triage</a:t>
            </a:r>
          </a:p>
          <a:p>
            <a:pPr>
              <a:lnSpc>
                <a:spcPct val="90000"/>
              </a:lnSpc>
            </a:pPr>
            <a:r>
              <a:rPr lang="en-US" sz="1800"/>
              <a:t>guaranteed response times (SLA)</a:t>
            </a:r>
          </a:p>
          <a:p>
            <a:pPr>
              <a:lnSpc>
                <a:spcPct val="90000"/>
              </a:lnSpc>
            </a:pPr>
            <a:r>
              <a:rPr lang="en-US" sz="1800"/>
              <a:t>measurable social impact through reports and statistics</a:t>
            </a:r>
          </a:p>
          <a:p>
            <a:pPr>
              <a:lnSpc>
                <a:spcPct val="90000"/>
              </a:lnSpc>
            </a:pPr>
            <a:r>
              <a:rPr lang="en-US" sz="1800"/>
              <a:t>lower cost per handled case compared to alternatives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err="1"/>
              <a:t>PawPath</a:t>
            </a:r>
            <a:r>
              <a:rPr lang="en-US" sz="1800"/>
              <a:t> transforms social support from a chaotic process into a </a:t>
            </a:r>
            <a:r>
              <a:rPr lang="en-US" sz="1800" b="1"/>
              <a:t>manageable service</a:t>
            </a:r>
            <a:r>
              <a:rPr lang="en-US" sz="1800"/>
              <a:t>.</a:t>
            </a:r>
          </a:p>
        </p:txBody>
      </p:sp>
      <p:pic>
        <p:nvPicPr>
          <p:cNvPr id="4161" name="Picture 65" descr="The Importance of KPI Management in Today's Workplace">
            <a:extLst>
              <a:ext uri="{FF2B5EF4-FFF2-40B4-BE49-F238E27FC236}">
                <a16:creationId xmlns:a16="http://schemas.microsoft.com/office/drawing/2014/main" id="{C90C138F-AEA8-C7C0-34A2-8E5E431E0E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43" r="22991" b="-2"/>
          <a:stretch>
            <a:fillRect/>
          </a:stretch>
        </p:blipFill>
        <p:spPr bwMode="auto">
          <a:xfrm>
            <a:off x="4648200" y="1174750"/>
            <a:ext cx="4038600" cy="4953000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F2656-8AA2-0A42-4510-391C5EEFF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Sustainability &amp; Growth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299C1-E0EF-7355-08EC-3C8CBA7DAF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dirty="0" err="1"/>
              <a:t>PawPath’s</a:t>
            </a:r>
            <a:r>
              <a:rPr lang="en-US" sz="1600" dirty="0"/>
              <a:t> business model is designed for </a:t>
            </a:r>
            <a:r>
              <a:rPr lang="en-US" sz="1600" b="1" dirty="0"/>
              <a:t>long-term sustainability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r>
              <a:rPr lang="en-US" sz="1600" dirty="0"/>
              <a:t>Key principles:</a:t>
            </a:r>
          </a:p>
          <a:p>
            <a:r>
              <a:rPr lang="en-US" sz="1600" dirty="0"/>
              <a:t>individuals in need never pay</a:t>
            </a:r>
          </a:p>
          <a:p>
            <a:r>
              <a:rPr lang="en-US" sz="1600" dirty="0"/>
              <a:t>revenue comes from institutions with stable capacity</a:t>
            </a:r>
          </a:p>
          <a:p>
            <a:r>
              <a:rPr lang="en-US" sz="1600" dirty="0"/>
              <a:t>the platform scales through software, not staff growth</a:t>
            </a:r>
          </a:p>
          <a:p>
            <a:r>
              <a:rPr lang="en-US" sz="1600" dirty="0"/>
              <a:t>accumulated data increases platform value over time</a:t>
            </a:r>
          </a:p>
          <a:p>
            <a:pPr marL="0" indent="0">
              <a:buNone/>
            </a:pPr>
            <a:r>
              <a:rPr lang="en-US" sz="1600" dirty="0"/>
              <a:t>Our goal is to establish </a:t>
            </a:r>
            <a:r>
              <a:rPr lang="en-US" sz="1600" dirty="0" err="1"/>
              <a:t>PawPath</a:t>
            </a:r>
            <a:r>
              <a:rPr lang="en-US" sz="1600" dirty="0"/>
              <a:t> as </a:t>
            </a:r>
            <a:r>
              <a:rPr lang="en-US" sz="1600" b="1" dirty="0"/>
              <a:t>social support infrastructure</a:t>
            </a:r>
            <a:r>
              <a:rPr lang="en-US" sz="1600" dirty="0"/>
              <a:t>, not a one-time initiative.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413EA2-E35A-669A-E508-E7090EC0B60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AA7FB58C-B460-56D4-A458-723F8B68B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175" y="1241425"/>
            <a:ext cx="4368951" cy="520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070756"/>
      </p:ext>
    </p:extLst>
  </p:cSld>
  <p:clrMapOvr>
    <a:masterClrMapping/>
  </p:clrMapOvr>
</p:sld>
</file>

<file path=ppt/theme/theme1.xml><?xml version="1.0" encoding="utf-8"?>
<a:theme xmlns:a="http://schemas.openxmlformats.org/drawingml/2006/main" name="Communications and Dialogues">
  <a:themeElements>
    <a:clrScheme name="Communications and Dialogu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Communications and Dialogu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Communications and Dialogu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339</Words>
  <Application>Microsoft Office PowerPoint</Application>
  <PresentationFormat>On-screen Show (4:3)</PresentationFormat>
  <Paragraphs>48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Communications and Dialogues</vt:lpstr>
      <vt:lpstr>PawPath - Sustainable Business Model</vt:lpstr>
      <vt:lpstr>Initial Funding Strategy</vt:lpstr>
      <vt:lpstr>Revenue Streams</vt:lpstr>
      <vt:lpstr>Why Institutions Pay</vt:lpstr>
      <vt:lpstr>Sustainability &amp; Growth Strategy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Konstantin Bobrovskii</cp:lastModifiedBy>
  <cp:revision>3</cp:revision>
  <dcterms:created xsi:type="dcterms:W3CDTF">2013-01-27T09:14:00Z</dcterms:created>
  <dcterms:modified xsi:type="dcterms:W3CDTF">2026-01-21T18:26:18Z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58F5DBFF03424AADB57938D84F79967E_12</vt:lpwstr>
  </property>
  <property fmtid="{D5CDD505-2E9C-101B-9397-08002B2CF9AE}" pid="3" name="KSOProductBuildVer">
    <vt:lpwstr>1033-12.2.0.22549</vt:lpwstr>
  </property>
</Properties>
</file>